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charts/chart1.xml" ContentType="application/vnd.openxmlformats-officedocument.drawingml.chart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title>
      <c:tx>
        <c:rich>
          <a:bodyPr/>
          <a:lstStyle/>
          <a:p>
            <a:pPr>
              <a:defRPr sz="1800" b="0" i="0" u="none" strike="noStrike">
                <a:solidFill>
                  <a:srgbClr val="1E2761"/>
                </a:solidFill>
                <a:latin typeface="Calibri"/>
              </a:defRPr>
            </a:pPr>
            <a:r>
              <a:rPr sz="1800" b="0" i="0" u="none" strike="noStrike">
                <a:solidFill>
                  <a:srgbClr val="1E2761"/>
                </a:solidFill>
                <a:latin typeface="Calibri"/>
              </a:rPr>
              <a:t>Precision / Recall / F1 (F1 shown ×100)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User-level</c:v>
                </c:pt>
              </c:strCache>
            </c:strRef>
          </c:tx>
          <c:spPr>
            <a:solidFill>
              <a:srgbClr val="1E2761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1E2761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Precision</c:v>
                  </c:pt>
                  <c:pt idx="1">
                    <c:v>Recall</c:v>
                  </c:pt>
                  <c:pt idx="2">
                    <c:v>F1 x 100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86.21</c:v>
                </c:pt>
                <c:pt idx="1">
                  <c:v>96.69</c:v>
                </c:pt>
                <c:pt idx="2">
                  <c:v>91.1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Event-level</c:v>
                </c:pt>
              </c:strCache>
            </c:strRef>
          </c:tx>
          <c:spPr>
            <a:solidFill>
              <a:srgbClr val="2EC4B6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1E2761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Precision</c:v>
                  </c:pt>
                  <c:pt idx="1">
                    <c:v>Recall</c:v>
                  </c:pt>
                  <c:pt idx="2">
                    <c:v>F1 x 100</c:v>
                  </c:pt>
                </c:lvl>
              </c:multiLvlStrCache>
            </c:multiLvl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96.75</c:v>
                </c:pt>
                <c:pt idx="1">
                  <c:v>89.16</c:v>
                </c:pt>
                <c:pt idx="2">
                  <c:v>92.8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000" u="none">
                  <a:solidFill>
                    <a:srgbClr val="1E2761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A6B9C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10"/>
          <c:min val="0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0&quot;%&quot;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A6B9C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</c:legend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png"/><Relationship Id="rId3" Type="http://schemas.openxmlformats.org/officeDocument/2006/relationships/image" Target="../media/image-13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961120" y="548640"/>
            <a:ext cx="164592" cy="164592"/>
          </a:xfrm>
          <a:prstGeom prst="ellipse">
            <a:avLst/>
          </a:prstGeom>
          <a:solidFill>
            <a:srgbClr val="CADCFC">
              <a:alpha val="4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9875520" y="548640"/>
            <a:ext cx="164592" cy="164592"/>
          </a:xfrm>
          <a:prstGeom prst="ellipse">
            <a:avLst/>
          </a:prstGeom>
          <a:solidFill>
            <a:srgbClr val="CADCFC">
              <a:alpha val="4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10789920" y="548640"/>
            <a:ext cx="164592" cy="164592"/>
          </a:xfrm>
          <a:prstGeom prst="ellipse">
            <a:avLst/>
          </a:prstGeom>
          <a:solidFill>
            <a:srgbClr val="CADCFC">
              <a:alpha val="40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8961120" y="1463040"/>
            <a:ext cx="164592" cy="164592"/>
          </a:xfrm>
          <a:prstGeom prst="ellipse">
            <a:avLst/>
          </a:prstGeom>
          <a:solidFill>
            <a:srgbClr val="CADCFC">
              <a:alpha val="40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9875520" y="1463040"/>
            <a:ext cx="164592" cy="164592"/>
          </a:xfrm>
          <a:prstGeom prst="ellipse">
            <a:avLst/>
          </a:prstGeom>
          <a:solidFill>
            <a:srgbClr val="CADCFC">
              <a:alpha val="40000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10789920" y="1463040"/>
            <a:ext cx="164592" cy="164592"/>
          </a:xfrm>
          <a:prstGeom prst="ellipse">
            <a:avLst/>
          </a:prstGeom>
          <a:solidFill>
            <a:srgbClr val="CADCFC">
              <a:alpha val="40000"/>
            </a:srgbClr>
          </a:solidFill>
          <a:ln/>
        </p:spPr>
      </p:sp>
      <p:sp>
        <p:nvSpPr>
          <p:cNvPr id="8" name="Shape 6"/>
          <p:cNvSpPr/>
          <p:nvPr/>
        </p:nvSpPr>
        <p:spPr>
          <a:xfrm>
            <a:off x="822960" y="822960"/>
            <a:ext cx="1005840" cy="1005840"/>
          </a:xfrm>
          <a:prstGeom prst="ellipse">
            <a:avLst/>
          </a:prstGeom>
          <a:solidFill>
            <a:srgbClr val="344A9E"/>
          </a:solidFill>
          <a:ln/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49274" y="1049274"/>
            <a:ext cx="553212" cy="553212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822960" y="2286000"/>
            <a:ext cx="105156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Identity Sprawl &amp; Privilege Abuse Detection</a:t>
            </a:r>
            <a:endParaRPr lang="en-US" sz="4400" dirty="0"/>
          </a:p>
        </p:txBody>
      </p:sp>
      <p:sp>
        <p:nvSpPr>
          <p:cNvPr id="11" name="Text 8"/>
          <p:cNvSpPr/>
          <p:nvPr/>
        </p:nvSpPr>
        <p:spPr>
          <a:xfrm>
            <a:off x="822960" y="3657600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AI/ML-Powered Identity &amp; Access Management Risk Platform</a:t>
            </a:r>
            <a:endParaRPr lang="en-US" sz="1800" dirty="0"/>
          </a:p>
        </p:txBody>
      </p:sp>
      <p:sp>
        <p:nvSpPr>
          <p:cNvPr id="12" name="Shape 9"/>
          <p:cNvSpPr/>
          <p:nvPr/>
        </p:nvSpPr>
        <p:spPr>
          <a:xfrm>
            <a:off x="822960" y="4572000"/>
            <a:ext cx="10515600" cy="18288"/>
          </a:xfrm>
          <a:prstGeom prst="rect">
            <a:avLst/>
          </a:prstGeom>
          <a:solidFill>
            <a:srgbClr val="344A9E"/>
          </a:solidFill>
          <a:ln/>
        </p:spPr>
      </p:sp>
      <p:sp>
        <p:nvSpPr>
          <p:cNvPr id="13" name="Text 10"/>
          <p:cNvSpPr/>
          <p:nvPr/>
        </p:nvSpPr>
        <p:spPr>
          <a:xfrm>
            <a:off x="822960" y="4846320"/>
            <a:ext cx="10058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Societe Generale GSC Hackathon</a:t>
            </a:r>
            <a:endParaRPr lang="en-US" sz="16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Statement 01 — Option A (AI/ML)</a:t>
            </a:r>
            <a:endParaRPr lang="en-US" sz="1600" dirty="0"/>
          </a:p>
        </p:txBody>
      </p:sp>
      <p:sp>
        <p:nvSpPr>
          <p:cNvPr id="14" name="Text 11"/>
          <p:cNvSpPr/>
          <p:nvPr/>
        </p:nvSpPr>
        <p:spPr>
          <a:xfrm>
            <a:off x="11521440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B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Executive Summary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91440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A6B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end-to-end ML + LLM pipeline that turns raw IAM logs into prioritized, explainable risk findings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2606040" cy="1737360"/>
          </a:xfrm>
          <a:prstGeom prst="roundRect">
            <a:avLst>
              <a:gd name="adj" fmla="val 4211"/>
            </a:avLst>
          </a:prstGeom>
          <a:solidFill>
            <a:srgbClr val="F4F7FD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77240" y="1783080"/>
            <a:ext cx="548640" cy="548640"/>
          </a:xfrm>
          <a:prstGeom prst="ellipse">
            <a:avLst/>
          </a:prstGeom>
          <a:solidFill>
            <a:srgbClr val="CADCFC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00684" y="1906524"/>
            <a:ext cx="301752" cy="30175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731520" y="2377440"/>
            <a:ext cx="2240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300</a:t>
            </a:r>
            <a:endParaRPr lang="en-US" sz="3000" dirty="0"/>
          </a:p>
        </p:txBody>
      </p:sp>
      <p:sp>
        <p:nvSpPr>
          <p:cNvPr id="8" name="Text 5"/>
          <p:cNvSpPr/>
          <p:nvPr/>
        </p:nvSpPr>
        <p:spPr>
          <a:xfrm>
            <a:off x="731520" y="2926080"/>
            <a:ext cx="2240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6B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Users Analyzed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3383280" y="1554480"/>
            <a:ext cx="2606040" cy="1737360"/>
          </a:xfrm>
          <a:prstGeom prst="roundRect">
            <a:avLst>
              <a:gd name="adj" fmla="val 4211"/>
            </a:avLst>
          </a:prstGeom>
          <a:solidFill>
            <a:srgbClr val="F4F7FD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3611880" y="1783080"/>
            <a:ext cx="548640" cy="548640"/>
          </a:xfrm>
          <a:prstGeom prst="ellipse">
            <a:avLst/>
          </a:prstGeom>
          <a:solidFill>
            <a:srgbClr val="CADCFC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35324" y="1906524"/>
            <a:ext cx="301752" cy="301752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3566160" y="2377440"/>
            <a:ext cx="2240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2,099</a:t>
            </a:r>
            <a:endParaRPr lang="en-US" sz="3000" dirty="0"/>
          </a:p>
        </p:txBody>
      </p:sp>
      <p:sp>
        <p:nvSpPr>
          <p:cNvPr id="13" name="Text 9"/>
          <p:cNvSpPr/>
          <p:nvPr/>
        </p:nvSpPr>
        <p:spPr>
          <a:xfrm>
            <a:off x="3566160" y="2926080"/>
            <a:ext cx="2240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6B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Events Processed</a:t>
            </a:r>
            <a:endParaRPr lang="en-US" sz="1200" dirty="0"/>
          </a:p>
        </p:txBody>
      </p:sp>
      <p:sp>
        <p:nvSpPr>
          <p:cNvPr id="14" name="Shape 10"/>
          <p:cNvSpPr/>
          <p:nvPr/>
        </p:nvSpPr>
        <p:spPr>
          <a:xfrm>
            <a:off x="6217920" y="1554480"/>
            <a:ext cx="2606040" cy="1737360"/>
          </a:xfrm>
          <a:prstGeom prst="roundRect">
            <a:avLst>
              <a:gd name="adj" fmla="val 4211"/>
            </a:avLst>
          </a:prstGeom>
          <a:solidFill>
            <a:srgbClr val="F4F7FD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6446520" y="1783080"/>
            <a:ext cx="548640" cy="548640"/>
          </a:xfrm>
          <a:prstGeom prst="ellipse">
            <a:avLst/>
          </a:prstGeom>
          <a:solidFill>
            <a:srgbClr val="CADCFC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69964" y="1906524"/>
            <a:ext cx="301752" cy="301752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6400800" y="2377440"/>
            <a:ext cx="2240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53</a:t>
            </a:r>
            <a:endParaRPr lang="en-US" sz="3000" dirty="0"/>
          </a:p>
        </p:txBody>
      </p:sp>
      <p:sp>
        <p:nvSpPr>
          <p:cNvPr id="18" name="Text 13"/>
          <p:cNvSpPr/>
          <p:nvPr/>
        </p:nvSpPr>
        <p:spPr>
          <a:xfrm>
            <a:off x="6400800" y="2926080"/>
            <a:ext cx="2240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6B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SoD Violations Found</a:t>
            </a:r>
            <a:endParaRPr lang="en-US" sz="1200" dirty="0"/>
          </a:p>
        </p:txBody>
      </p:sp>
      <p:sp>
        <p:nvSpPr>
          <p:cNvPr id="19" name="Shape 14"/>
          <p:cNvSpPr/>
          <p:nvPr/>
        </p:nvSpPr>
        <p:spPr>
          <a:xfrm>
            <a:off x="9052560" y="1554480"/>
            <a:ext cx="2606040" cy="1737360"/>
          </a:xfrm>
          <a:prstGeom prst="roundRect">
            <a:avLst>
              <a:gd name="adj" fmla="val 4211"/>
            </a:avLst>
          </a:prstGeom>
          <a:solidFill>
            <a:srgbClr val="F4F7FD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9281160" y="1783080"/>
            <a:ext cx="548640" cy="548640"/>
          </a:xfrm>
          <a:prstGeom prst="ellipse">
            <a:avLst/>
          </a:prstGeom>
          <a:solidFill>
            <a:srgbClr val="CADCFC"/>
          </a:solidFill>
          <a:ln/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04604" y="1906524"/>
            <a:ext cx="301752" cy="301752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9235440" y="2377440"/>
            <a:ext cx="2240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273</a:t>
            </a:r>
            <a:endParaRPr lang="en-US" sz="3000" dirty="0"/>
          </a:p>
        </p:txBody>
      </p:sp>
      <p:sp>
        <p:nvSpPr>
          <p:cNvPr id="23" name="Text 17"/>
          <p:cNvSpPr/>
          <p:nvPr/>
        </p:nvSpPr>
        <p:spPr>
          <a:xfrm>
            <a:off x="9235440" y="2926080"/>
            <a:ext cx="2240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6B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Remediation Playbooks</a:t>
            </a:r>
            <a:endParaRPr lang="en-US" sz="1200" dirty="0"/>
          </a:p>
        </p:txBody>
      </p:sp>
      <p:sp>
        <p:nvSpPr>
          <p:cNvPr id="24" name="Shape 18"/>
          <p:cNvSpPr/>
          <p:nvPr/>
        </p:nvSpPr>
        <p:spPr>
          <a:xfrm>
            <a:off x="548640" y="3566160"/>
            <a:ext cx="11064240" cy="2651760"/>
          </a:xfrm>
          <a:prstGeom prst="roundRect">
            <a:avLst>
              <a:gd name="adj" fmla="val 2759"/>
            </a:avLst>
          </a:prstGeom>
          <a:solidFill>
            <a:srgbClr val="1E2761"/>
          </a:solidFill>
          <a:ln/>
        </p:spPr>
      </p:sp>
      <p:sp>
        <p:nvSpPr>
          <p:cNvPr id="25" name="Text 19"/>
          <p:cNvSpPr/>
          <p:nvPr/>
        </p:nvSpPr>
        <p:spPr>
          <a:xfrm>
            <a:off x="914400" y="3794760"/>
            <a:ext cx="10698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What the platform does</a:t>
            </a:r>
            <a:endParaRPr lang="en-US" sz="1800" dirty="0"/>
          </a:p>
        </p:txBody>
      </p:sp>
      <p:sp>
        <p:nvSpPr>
          <p:cNvPr id="26" name="Text 20"/>
          <p:cNvSpPr/>
          <p:nvPr/>
        </p:nvSpPr>
        <p:spPr>
          <a:xfrm>
            <a:off x="914400" y="4251960"/>
            <a:ext cx="1069848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Ingests 6 datasets (users, access events, evidence artifacts, config drift) and computes 365-day behavioural baselines per department.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Combines Isolation Forest anomaly detection, K-Means behavioural clustering, and rule-based IAM logic (SoD, stale privileges, cross-department access).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Enriches findings with live Okta identity data and generates human-readable risk narratives via Groq LLM (Llama 3.1).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Outputs a 16-view interactive dashboard with privilege graphs, breach simulation, remediation playbooks, and a CISO-ready executive briefing.</a:t>
            </a:r>
            <a:endParaRPr lang="en-US" sz="1400" dirty="0"/>
          </a:p>
        </p:txBody>
      </p:sp>
      <p:sp>
        <p:nvSpPr>
          <p:cNvPr id="27" name="Text 21"/>
          <p:cNvSpPr/>
          <p:nvPr/>
        </p:nvSpPr>
        <p:spPr>
          <a:xfrm>
            <a:off x="11521440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B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System Architecture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91440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A6B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three-stage pipeline: analyze, serve, visualize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3611880" cy="4480560"/>
          </a:xfrm>
          <a:prstGeom prst="roundRect">
            <a:avLst>
              <a:gd name="adj" fmla="val 2025"/>
            </a:avLst>
          </a:prstGeom>
          <a:solidFill>
            <a:srgbClr val="F4F7FD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22960" y="1828800"/>
            <a:ext cx="640080" cy="640080"/>
          </a:xfrm>
          <a:prstGeom prst="ellipse">
            <a:avLst/>
          </a:prstGeom>
          <a:solidFill>
            <a:srgbClr val="CADCFC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66978" y="1972818"/>
            <a:ext cx="352044" cy="352044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600200" y="1828800"/>
            <a:ext cx="2377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1500" b="1" dirty="0">
                <a:solidFill>
                  <a:srgbClr val="1E2761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1. Pipeline (main.py)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822960" y="2788920"/>
            <a:ext cx="306324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 analysis — 300 users, 2,099 events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Groq LLM narratives (30 users + exec summary)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Okta API enrichment (live, optional)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Outputs to reports/ (JSON + CSV)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4178808" y="3520440"/>
            <a:ext cx="19202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5A6B9C"/>
                </a:solidFill>
              </a:rPr>
              <a:t>→</a:t>
            </a:r>
            <a:endParaRPr lang="en-US" sz="2400" dirty="0"/>
          </a:p>
        </p:txBody>
      </p:sp>
      <p:sp>
        <p:nvSpPr>
          <p:cNvPr id="10" name="Shape 7"/>
          <p:cNvSpPr/>
          <p:nvPr/>
        </p:nvSpPr>
        <p:spPr>
          <a:xfrm>
            <a:off x="4389120" y="1554480"/>
            <a:ext cx="3611880" cy="4480560"/>
          </a:xfrm>
          <a:prstGeom prst="roundRect">
            <a:avLst>
              <a:gd name="adj" fmla="val 2025"/>
            </a:avLst>
          </a:prstGeom>
          <a:solidFill>
            <a:srgbClr val="F4F7FD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4663440" y="1828800"/>
            <a:ext cx="640080" cy="640080"/>
          </a:xfrm>
          <a:prstGeom prst="ellipse">
            <a:avLst/>
          </a:prstGeom>
          <a:solidFill>
            <a:srgbClr val="CADCFC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07458" y="1972818"/>
            <a:ext cx="352044" cy="352044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5440680" y="1828800"/>
            <a:ext cx="2377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1500" b="1" dirty="0">
                <a:solidFill>
                  <a:srgbClr val="1E2761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2. API (src/api/server.py)</a:t>
            </a:r>
            <a:endParaRPr lang="en-US" sz="1500" dirty="0"/>
          </a:p>
        </p:txBody>
      </p:sp>
      <p:sp>
        <p:nvSpPr>
          <p:cNvPr id="14" name="Text 10"/>
          <p:cNvSpPr/>
          <p:nvPr/>
        </p:nvSpPr>
        <p:spPr>
          <a:xfrm>
            <a:off x="4663440" y="2788920"/>
            <a:ext cx="306324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Flask REST API on port 5050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 endpoints — users, events, feedback, Okta, health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Serves dashboard/index.html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Embeds dashboard/data.js for offline mode</a:t>
            </a:r>
            <a:endParaRPr lang="en-US" sz="1300" dirty="0"/>
          </a:p>
        </p:txBody>
      </p:sp>
      <p:sp>
        <p:nvSpPr>
          <p:cNvPr id="15" name="Text 11"/>
          <p:cNvSpPr/>
          <p:nvPr/>
        </p:nvSpPr>
        <p:spPr>
          <a:xfrm>
            <a:off x="8019288" y="3520440"/>
            <a:ext cx="19202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5A6B9C"/>
                </a:solidFill>
              </a:rPr>
              <a:t>→</a:t>
            </a:r>
            <a:endParaRPr lang="en-US" sz="2400" dirty="0"/>
          </a:p>
        </p:txBody>
      </p:sp>
      <p:sp>
        <p:nvSpPr>
          <p:cNvPr id="16" name="Shape 12"/>
          <p:cNvSpPr/>
          <p:nvPr/>
        </p:nvSpPr>
        <p:spPr>
          <a:xfrm>
            <a:off x="8229600" y="1554480"/>
            <a:ext cx="3611880" cy="4480560"/>
          </a:xfrm>
          <a:prstGeom prst="roundRect">
            <a:avLst>
              <a:gd name="adj" fmla="val 2025"/>
            </a:avLst>
          </a:prstGeom>
          <a:solidFill>
            <a:srgbClr val="F4F7FD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8503920" y="1828800"/>
            <a:ext cx="640080" cy="640080"/>
          </a:xfrm>
          <a:prstGeom prst="ellipse">
            <a:avLst/>
          </a:prstGeom>
          <a:solidFill>
            <a:srgbClr val="CADCFC"/>
          </a:solidFill>
          <a:ln/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47938" y="1972818"/>
            <a:ext cx="352044" cy="352044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9281160" y="1828800"/>
            <a:ext cx="2377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1500" b="1" dirty="0">
                <a:solidFill>
                  <a:srgbClr val="1E2761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3. Dashboard</a:t>
            </a:r>
            <a:endParaRPr lang="en-US" sz="1500" dirty="0"/>
          </a:p>
        </p:txBody>
      </p:sp>
      <p:sp>
        <p:nvSpPr>
          <p:cNvPr id="20" name="Text 15"/>
          <p:cNvSpPr/>
          <p:nvPr/>
        </p:nvSpPr>
        <p:spPr>
          <a:xfrm>
            <a:off x="8503920" y="2788920"/>
            <a:ext cx="306324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standalone.html — works fully offline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index.html — live mode via Flask API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Shows 'API live' or 'Static mode' indicator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 interactive views for risk exploration</a:t>
            </a:r>
            <a:endParaRPr lang="en-US" sz="1300" dirty="0"/>
          </a:p>
        </p:txBody>
      </p:sp>
      <p:sp>
        <p:nvSpPr>
          <p:cNvPr id="21" name="Text 16"/>
          <p:cNvSpPr/>
          <p:nvPr/>
        </p:nvSpPr>
        <p:spPr>
          <a:xfrm>
            <a:off x="11521440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B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Datasets Used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91440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A6B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Six sources combined for a richer behavioural baseline</a:t>
            </a:r>
            <a:endParaRPr lang="en-US" sz="14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554480"/>
          <a:ext cx="11064240" cy="4297680"/>
        </p:xfrm>
        <a:graphic>
          <a:graphicData uri="http://schemas.openxmlformats.org/drawingml/2006/table">
            <a:tbl>
              <a:tblPr/>
              <a:tblGrid>
                <a:gridCol w="2743200"/>
                <a:gridCol w="914400"/>
                <a:gridCol w="2743200"/>
                <a:gridCol w="3931920"/>
              </a:tblGrid>
              <a:tr h="6126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File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Rows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Source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Purpose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6126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identity_users.csv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300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PS provided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User accounts, privilege levels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126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identity_events.csv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2,099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PS (900) + access logs (1,199)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Access events — merged for richer baselines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D"/>
                    </a:solidFill>
                  </a:tcPr>
                </a:tc>
              </a:tr>
              <a:tr h="6126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identity_users_labels.csv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300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Generated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Ground truth user anomalies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126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identity_events_labels.csv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2,099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Generated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Ground truth event anomalies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D"/>
                    </a:solidFill>
                  </a:tcPr>
                </a:tc>
              </a:tr>
              <a:tr h="6126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evidence_artifacts.csv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500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Extra CSV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Compliance evidence gaps (HIPAA/SOX/GDPR/PCI/NIST/ISO)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126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config_drift_events.csv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1,000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Extra CSV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DLP + config drift events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D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11521440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B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ML Pipeline — 10 Steps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91440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A6B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raw CSVs to a CISO-ready executive report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508760"/>
            <a:ext cx="3657600" cy="1078992"/>
          </a:xfrm>
          <a:prstGeom prst="roundRect">
            <a:avLst>
              <a:gd name="adj" fmla="val 5085"/>
            </a:avLst>
          </a:prstGeom>
          <a:solidFill>
            <a:srgbClr val="F4F7FD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13232" y="1673352"/>
            <a:ext cx="457200" cy="45720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6" name="Text 4"/>
          <p:cNvSpPr/>
          <p:nvPr/>
        </p:nvSpPr>
        <p:spPr>
          <a:xfrm>
            <a:off x="713232" y="167335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1280160" y="1600200"/>
            <a:ext cx="278892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11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 6 datasets including 3 extra CSVs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4370832" y="1508760"/>
            <a:ext cx="3657600" cy="1078992"/>
          </a:xfrm>
          <a:prstGeom prst="roundRect">
            <a:avLst>
              <a:gd name="adj" fmla="val 5085"/>
            </a:avLst>
          </a:prstGeom>
          <a:solidFill>
            <a:srgbClr val="F4F7FD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535424" y="1673352"/>
            <a:ext cx="457200" cy="45720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0" name="Text 8"/>
          <p:cNvSpPr/>
          <p:nvPr/>
        </p:nvSpPr>
        <p:spPr>
          <a:xfrm>
            <a:off x="4535424" y="167335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1b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5102352" y="1600200"/>
            <a:ext cx="278892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11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Okta API enrichment (live status + audit logs)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8193024" y="1508760"/>
            <a:ext cx="3657600" cy="1078992"/>
          </a:xfrm>
          <a:prstGeom prst="roundRect">
            <a:avLst>
              <a:gd name="adj" fmla="val 5085"/>
            </a:avLst>
          </a:prstGeom>
          <a:solidFill>
            <a:srgbClr val="F4F7FD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8357616" y="1673352"/>
            <a:ext cx="457200" cy="45720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4" name="Text 12"/>
          <p:cNvSpPr/>
          <p:nvPr/>
        </p:nvSpPr>
        <p:spPr>
          <a:xfrm>
            <a:off x="8357616" y="167335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8924544" y="1600200"/>
            <a:ext cx="278892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11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 per-department 365-day behavioural baselines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548640" y="2715768"/>
            <a:ext cx="3657600" cy="1078992"/>
          </a:xfrm>
          <a:prstGeom prst="roundRect">
            <a:avLst>
              <a:gd name="adj" fmla="val 5085"/>
            </a:avLst>
          </a:prstGeom>
          <a:solidFill>
            <a:srgbClr val="F4F7FD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713232" y="2880360"/>
            <a:ext cx="457200" cy="45720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8" name="Text 16"/>
          <p:cNvSpPr/>
          <p:nvPr/>
        </p:nvSpPr>
        <p:spPr>
          <a:xfrm>
            <a:off x="713232" y="28803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1280160" y="2807208"/>
            <a:ext cx="278892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11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 Isolation Forest (n=100, contamination=0.15)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4370832" y="2715768"/>
            <a:ext cx="3657600" cy="1078992"/>
          </a:xfrm>
          <a:prstGeom prst="roundRect">
            <a:avLst>
              <a:gd name="adj" fmla="val 5085"/>
            </a:avLst>
          </a:prstGeom>
          <a:solidFill>
            <a:srgbClr val="F4F7FD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535424" y="2880360"/>
            <a:ext cx="457200" cy="45720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22" name="Text 20"/>
          <p:cNvSpPr/>
          <p:nvPr/>
        </p:nvSpPr>
        <p:spPr>
          <a:xfrm>
            <a:off x="4535424" y="28803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5102352" y="2807208"/>
            <a:ext cx="278892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11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K-Means clustering (k=5) — name behavioural groups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8193024" y="2715768"/>
            <a:ext cx="3657600" cy="1078992"/>
          </a:xfrm>
          <a:prstGeom prst="roundRect">
            <a:avLst>
              <a:gd name="adj" fmla="val 5085"/>
            </a:avLst>
          </a:prstGeom>
          <a:solidFill>
            <a:srgbClr val="F4F7FD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8357616" y="2880360"/>
            <a:ext cx="457200" cy="45720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26" name="Text 24"/>
          <p:cNvSpPr/>
          <p:nvPr/>
        </p:nvSpPr>
        <p:spPr>
          <a:xfrm>
            <a:off x="8357616" y="28803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8924544" y="2807208"/>
            <a:ext cx="278892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11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Analyse all 300 users (rule-based + ML hybrid)</a:t>
            </a:r>
            <a:endParaRPr lang="en-US" sz="1150" dirty="0"/>
          </a:p>
        </p:txBody>
      </p:sp>
      <p:sp>
        <p:nvSpPr>
          <p:cNvPr id="28" name="Shape 26"/>
          <p:cNvSpPr/>
          <p:nvPr/>
        </p:nvSpPr>
        <p:spPr>
          <a:xfrm>
            <a:off x="548640" y="3922776"/>
            <a:ext cx="3657600" cy="1078992"/>
          </a:xfrm>
          <a:prstGeom prst="roundRect">
            <a:avLst>
              <a:gd name="adj" fmla="val 5085"/>
            </a:avLst>
          </a:prstGeom>
          <a:solidFill>
            <a:srgbClr val="F4F7FD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713232" y="4087368"/>
            <a:ext cx="457200" cy="45720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30" name="Text 28"/>
          <p:cNvSpPr/>
          <p:nvPr/>
        </p:nvSpPr>
        <p:spPr>
          <a:xfrm>
            <a:off x="713232" y="408736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5b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1280160" y="4014216"/>
            <a:ext cx="278892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11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 Groq LLM narrative generation (background)</a:t>
            </a:r>
            <a:endParaRPr lang="en-US" sz="1150" dirty="0"/>
          </a:p>
        </p:txBody>
      </p:sp>
      <p:sp>
        <p:nvSpPr>
          <p:cNvPr id="32" name="Shape 30"/>
          <p:cNvSpPr/>
          <p:nvPr/>
        </p:nvSpPr>
        <p:spPr>
          <a:xfrm>
            <a:off x="4370832" y="3922776"/>
            <a:ext cx="3657600" cy="1078992"/>
          </a:xfrm>
          <a:prstGeom prst="roundRect">
            <a:avLst>
              <a:gd name="adj" fmla="val 5085"/>
            </a:avLst>
          </a:prstGeom>
          <a:solidFill>
            <a:srgbClr val="F4F7FD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4535424" y="4087368"/>
            <a:ext cx="457200" cy="45720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34" name="Text 32"/>
          <p:cNvSpPr/>
          <p:nvPr/>
        </p:nvSpPr>
        <p:spPr>
          <a:xfrm>
            <a:off x="4535424" y="408736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5102352" y="4014216"/>
            <a:ext cx="278892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11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Analyse 2,099 events with anomaly scores</a:t>
            </a:r>
            <a:endParaRPr lang="en-US" sz="1150" dirty="0"/>
          </a:p>
        </p:txBody>
      </p:sp>
      <p:sp>
        <p:nvSpPr>
          <p:cNvPr id="36" name="Shape 34"/>
          <p:cNvSpPr/>
          <p:nvPr/>
        </p:nvSpPr>
        <p:spPr>
          <a:xfrm>
            <a:off x="8193024" y="3922776"/>
            <a:ext cx="3657600" cy="1078992"/>
          </a:xfrm>
          <a:prstGeom prst="roundRect">
            <a:avLst>
              <a:gd name="adj" fmla="val 5085"/>
            </a:avLst>
          </a:prstGeom>
          <a:solidFill>
            <a:srgbClr val="F4F7FD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37" name="Shape 35"/>
          <p:cNvSpPr/>
          <p:nvPr/>
        </p:nvSpPr>
        <p:spPr>
          <a:xfrm>
            <a:off x="8357616" y="4087368"/>
            <a:ext cx="457200" cy="45720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38" name="Text 36"/>
          <p:cNvSpPr/>
          <p:nvPr/>
        </p:nvSpPr>
        <p:spPr>
          <a:xfrm>
            <a:off x="8357616" y="408736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8924544" y="4014216"/>
            <a:ext cx="278892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11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SoD detection + privilege graph + correlation</a:t>
            </a:r>
            <a:endParaRPr lang="en-US" sz="1150" dirty="0"/>
          </a:p>
        </p:txBody>
      </p:sp>
      <p:sp>
        <p:nvSpPr>
          <p:cNvPr id="40" name="Shape 38"/>
          <p:cNvSpPr/>
          <p:nvPr/>
        </p:nvSpPr>
        <p:spPr>
          <a:xfrm>
            <a:off x="548640" y="5129784"/>
            <a:ext cx="3657600" cy="1078992"/>
          </a:xfrm>
          <a:prstGeom prst="roundRect">
            <a:avLst>
              <a:gd name="adj" fmla="val 5085"/>
            </a:avLst>
          </a:prstGeom>
          <a:solidFill>
            <a:srgbClr val="F4F7FD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41" name="Shape 39"/>
          <p:cNvSpPr/>
          <p:nvPr/>
        </p:nvSpPr>
        <p:spPr>
          <a:xfrm>
            <a:off x="713232" y="5294376"/>
            <a:ext cx="457200" cy="45720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42" name="Text 40"/>
          <p:cNvSpPr/>
          <p:nvPr/>
        </p:nvSpPr>
        <p:spPr>
          <a:xfrm>
            <a:off x="713232" y="529437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100" dirty="0"/>
          </a:p>
        </p:txBody>
      </p:sp>
      <p:sp>
        <p:nvSpPr>
          <p:cNvPr id="43" name="Text 41"/>
          <p:cNvSpPr/>
          <p:nvPr/>
        </p:nvSpPr>
        <p:spPr>
          <a:xfrm>
            <a:off x="1280160" y="5221224"/>
            <a:ext cx="278892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11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Breach simulation + DLP + org anomalies + playbooks</a:t>
            </a:r>
            <a:endParaRPr lang="en-US" sz="1150" dirty="0"/>
          </a:p>
        </p:txBody>
      </p:sp>
      <p:sp>
        <p:nvSpPr>
          <p:cNvPr id="44" name="Shape 42"/>
          <p:cNvSpPr/>
          <p:nvPr/>
        </p:nvSpPr>
        <p:spPr>
          <a:xfrm>
            <a:off x="4370832" y="5129784"/>
            <a:ext cx="3657600" cy="1078992"/>
          </a:xfrm>
          <a:prstGeom prst="roundRect">
            <a:avLst>
              <a:gd name="adj" fmla="val 5085"/>
            </a:avLst>
          </a:prstGeom>
          <a:solidFill>
            <a:srgbClr val="F4F7FD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45" name="Shape 43"/>
          <p:cNvSpPr/>
          <p:nvPr/>
        </p:nvSpPr>
        <p:spPr>
          <a:xfrm>
            <a:off x="4535424" y="5294376"/>
            <a:ext cx="457200" cy="45720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46" name="Text 44"/>
          <p:cNvSpPr/>
          <p:nvPr/>
        </p:nvSpPr>
        <p:spPr>
          <a:xfrm>
            <a:off x="4535424" y="529437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8b</a:t>
            </a:r>
            <a:endParaRPr lang="en-US" sz="1100" dirty="0"/>
          </a:p>
        </p:txBody>
      </p:sp>
      <p:sp>
        <p:nvSpPr>
          <p:cNvPr id="47" name="Text 45"/>
          <p:cNvSpPr/>
          <p:nvPr/>
        </p:nvSpPr>
        <p:spPr>
          <a:xfrm>
            <a:off x="5102352" y="5221224"/>
            <a:ext cx="278892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11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Collect LLM narratives + executive summary</a:t>
            </a:r>
            <a:endParaRPr lang="en-US" sz="1150" dirty="0"/>
          </a:p>
        </p:txBody>
      </p:sp>
      <p:sp>
        <p:nvSpPr>
          <p:cNvPr id="48" name="Shape 46"/>
          <p:cNvSpPr/>
          <p:nvPr/>
        </p:nvSpPr>
        <p:spPr>
          <a:xfrm>
            <a:off x="8193024" y="5129784"/>
            <a:ext cx="3657600" cy="1078992"/>
          </a:xfrm>
          <a:prstGeom prst="roundRect">
            <a:avLst>
              <a:gd name="adj" fmla="val 5085"/>
            </a:avLst>
          </a:prstGeom>
          <a:solidFill>
            <a:srgbClr val="F4F7FD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49" name="Shape 47"/>
          <p:cNvSpPr/>
          <p:nvPr/>
        </p:nvSpPr>
        <p:spPr>
          <a:xfrm>
            <a:off x="8357616" y="5294376"/>
            <a:ext cx="457200" cy="45720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50" name="Text 48"/>
          <p:cNvSpPr/>
          <p:nvPr/>
        </p:nvSpPr>
        <p:spPr>
          <a:xfrm>
            <a:off x="8357616" y="529437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100" dirty="0"/>
          </a:p>
        </p:txBody>
      </p:sp>
      <p:sp>
        <p:nvSpPr>
          <p:cNvPr id="51" name="Text 49"/>
          <p:cNvSpPr/>
          <p:nvPr/>
        </p:nvSpPr>
        <p:spPr>
          <a:xfrm>
            <a:off x="8924544" y="5221224"/>
            <a:ext cx="278892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11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Analyse evidence/config-drift, evaluate, compile report</a:t>
            </a:r>
            <a:endParaRPr lang="en-US" sz="1150" dirty="0"/>
          </a:p>
        </p:txBody>
      </p:sp>
      <p:sp>
        <p:nvSpPr>
          <p:cNvPr id="52" name="Text 50"/>
          <p:cNvSpPr/>
          <p:nvPr/>
        </p:nvSpPr>
        <p:spPr>
          <a:xfrm>
            <a:off x="11521440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B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Detection Logic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91440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A6B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User-level and event-level rules combined with ML scoring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508760"/>
            <a:ext cx="5532120" cy="4526280"/>
          </a:xfrm>
          <a:prstGeom prst="roundRect">
            <a:avLst>
              <a:gd name="adj" fmla="val 1616"/>
            </a:avLst>
          </a:prstGeom>
          <a:solidFill>
            <a:srgbClr val="F4F7FD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77240" y="1737360"/>
            <a:ext cx="502920" cy="502920"/>
          </a:xfrm>
          <a:prstGeom prst="ellipse">
            <a:avLst/>
          </a:prstGeom>
          <a:solidFill>
            <a:srgbClr val="CADCFC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90397" y="1850517"/>
            <a:ext cx="276606" cy="276606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417320" y="1737360"/>
            <a:ext cx="4480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User-Level (Rule-based + ML)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777240" y="2331720"/>
            <a:ext cx="507492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600"/>
              </a:spcAft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STALE_PRIVILEGED_ACCOUNT</a:t>
            </a:r>
            <a:endParaRPr lang="en-US" sz="13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150" dirty="0">
                <a:solidFill>
                  <a:srgbClr val="5A6B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 &gt;20d, power-user &gt;30d, service-account &gt;25d inactive</a:t>
            </a:r>
            <a:endParaRPr lang="en-US" sz="13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SOD_VIOLATION</a:t>
            </a:r>
            <a:endParaRPr lang="en-US" sz="13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150" dirty="0">
                <a:solidFill>
                  <a:srgbClr val="5A6B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conflict pairs (e.g. PROD_DB + ADMIN_SYS, AWS_IAM + ADMIN_SYS)</a:t>
            </a:r>
            <a:endParaRPr lang="en-US" sz="13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OVER_PRIVILEGED</a:t>
            </a:r>
            <a:endParaRPr lang="en-US" sz="13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150" dirty="0">
                <a:solidFill>
                  <a:srgbClr val="5A6B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 user holds critical system access</a:t>
            </a:r>
            <a:endParaRPr lang="en-US" sz="13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CROSS_DEPT_SYSTEM_ACCESS / NO_MFA_PRIVILEGED / ORPHANED_ACCOUNT / ROLE_EXCEPTION (info)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6263640" y="1508760"/>
            <a:ext cx="5349240" cy="4526280"/>
          </a:xfrm>
          <a:prstGeom prst="roundRect">
            <a:avLst>
              <a:gd name="adj" fmla="val 1616"/>
            </a:avLst>
          </a:prstGeom>
          <a:solidFill>
            <a:srgbClr val="F4F7FD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6492240" y="1737360"/>
            <a:ext cx="502920" cy="50292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05397" y="1850517"/>
            <a:ext cx="276606" cy="276606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7132320" y="1737360"/>
            <a:ext cx="4297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Event-Level (Isolation Forest + Rules)</a:t>
            </a:r>
            <a:endParaRPr lang="en-US" sz="1600" dirty="0"/>
          </a:p>
        </p:txBody>
      </p:sp>
      <p:sp>
        <p:nvSpPr>
          <p:cNvPr id="13" name="Text 9"/>
          <p:cNvSpPr/>
          <p:nvPr/>
        </p:nvSpPr>
        <p:spPr>
          <a:xfrm>
            <a:off x="6492240" y="2331720"/>
            <a:ext cx="489204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600"/>
              </a:spcAft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AFTER_HOURS_HIGH_RISK</a:t>
            </a:r>
            <a:endParaRPr lang="en-US" sz="13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150" dirty="0">
                <a:solidFill>
                  <a:srgbClr val="5A6B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High-sensitivity action at night, non-on-call department</a:t>
            </a:r>
            <a:endParaRPr lang="en-US" sz="13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BULK_DATA_EXPORT</a:t>
            </a:r>
            <a:endParaRPr lang="en-US" sz="13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150" dirty="0">
                <a:solidFill>
                  <a:srgbClr val="5A6B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5+ exports or 2+ high-sensitivity exports</a:t>
            </a:r>
            <a:endParaRPr lang="en-US" sz="13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CROSS_DEPT_ACCESS</a:t>
            </a:r>
            <a:endParaRPr lang="en-US" sz="13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150" dirty="0">
                <a:solidFill>
                  <a:srgbClr val="5A6B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 user performing admin/SQL on critical resources</a:t>
            </a:r>
            <a:endParaRPr lang="en-US" sz="13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AUTH_FAILURE / REPEATED_AUTH_FAILURE</a:t>
            </a:r>
            <a:endParaRPr lang="en-US" sz="13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150" dirty="0">
                <a:solidFill>
                  <a:srgbClr val="5A6B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Failed logins; 3+ failures per user flagged</a:t>
            </a:r>
            <a:endParaRPr lang="en-US" sz="1300" dirty="0"/>
          </a:p>
        </p:txBody>
      </p:sp>
      <p:sp>
        <p:nvSpPr>
          <p:cNvPr id="14" name="Text 10"/>
          <p:cNvSpPr/>
          <p:nvPr/>
        </p:nvSpPr>
        <p:spPr>
          <a:xfrm>
            <a:off x="11521440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B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Context-Aware Exceptions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91440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A6B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Reducing false positives through IAM domain knowledge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5440680" cy="2103120"/>
          </a:xfrm>
          <a:prstGeom prst="roundRect">
            <a:avLst>
              <a:gd name="adj" fmla="val 3478"/>
            </a:avLst>
          </a:prstGeom>
          <a:solidFill>
            <a:srgbClr val="F4F7FD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22960" y="1828800"/>
            <a:ext cx="685800" cy="685800"/>
          </a:xfrm>
          <a:prstGeom prst="ellipse">
            <a:avLst/>
          </a:prstGeom>
          <a:solidFill>
            <a:srgbClr val="CADCFC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77265" y="1983105"/>
            <a:ext cx="377190" cy="37719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737360" y="1828800"/>
            <a:ext cx="3977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Broad-access departments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822960" y="2606040"/>
            <a:ext cx="4892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and Security departments are exempt from over-privilege flags (BROAD_ACCESS_DEPTS).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6263640" y="1554480"/>
            <a:ext cx="5440680" cy="2103120"/>
          </a:xfrm>
          <a:prstGeom prst="roundRect">
            <a:avLst>
              <a:gd name="adj" fmla="val 3478"/>
            </a:avLst>
          </a:prstGeom>
          <a:solidFill>
            <a:srgbClr val="F4F7FD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6537960" y="1828800"/>
            <a:ext cx="685800" cy="685800"/>
          </a:xfrm>
          <a:prstGeom prst="ellipse">
            <a:avLst/>
          </a:prstGeom>
          <a:solidFill>
            <a:srgbClr val="CADCFC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92265" y="1983105"/>
            <a:ext cx="377190" cy="37719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7452360" y="1828800"/>
            <a:ext cx="3977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On-call departments</a:t>
            </a:r>
            <a:endParaRPr lang="en-US" sz="1600" dirty="0"/>
          </a:p>
        </p:txBody>
      </p:sp>
      <p:sp>
        <p:nvSpPr>
          <p:cNvPr id="13" name="Text 9"/>
          <p:cNvSpPr/>
          <p:nvPr/>
        </p:nvSpPr>
        <p:spPr>
          <a:xfrm>
            <a:off x="6537960" y="2606040"/>
            <a:ext cx="4892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Security, IT, Engineering, and Operations are exempt from after-hours flags (ONCALL_DEPTS).</a:t>
            </a:r>
            <a:endParaRPr lang="en-US" sz="1300" dirty="0"/>
          </a:p>
        </p:txBody>
      </p:sp>
      <p:sp>
        <p:nvSpPr>
          <p:cNvPr id="14" name="Shape 10"/>
          <p:cNvSpPr/>
          <p:nvPr/>
        </p:nvSpPr>
        <p:spPr>
          <a:xfrm>
            <a:off x="548640" y="3886200"/>
            <a:ext cx="5440680" cy="2103120"/>
          </a:xfrm>
          <a:prstGeom prst="roundRect">
            <a:avLst>
              <a:gd name="adj" fmla="val 3478"/>
            </a:avLst>
          </a:prstGeom>
          <a:solidFill>
            <a:srgbClr val="F4F7FD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822960" y="4160520"/>
            <a:ext cx="685800" cy="685800"/>
          </a:xfrm>
          <a:prstGeom prst="ellipse">
            <a:avLst/>
          </a:prstGeom>
          <a:solidFill>
            <a:srgbClr val="CADCFC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7265" y="4314825"/>
            <a:ext cx="377190" cy="37719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737360" y="4160520"/>
            <a:ext cx="3977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New hire grace period</a:t>
            </a:r>
            <a:endParaRPr lang="en-US" sz="1600" dirty="0"/>
          </a:p>
        </p:txBody>
      </p:sp>
      <p:sp>
        <p:nvSpPr>
          <p:cNvPr id="18" name="Text 13"/>
          <p:cNvSpPr/>
          <p:nvPr/>
        </p:nvSpPr>
        <p:spPr>
          <a:xfrm>
            <a:off x="822960" y="4937760"/>
            <a:ext cx="4892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Users with under 30 days tenure are flagged as INFORMATIONAL rather than HIGH severity.</a:t>
            </a:r>
            <a:endParaRPr lang="en-US" sz="1300" dirty="0"/>
          </a:p>
        </p:txBody>
      </p:sp>
      <p:sp>
        <p:nvSpPr>
          <p:cNvPr id="19" name="Shape 14"/>
          <p:cNvSpPr/>
          <p:nvPr/>
        </p:nvSpPr>
        <p:spPr>
          <a:xfrm>
            <a:off x="6263640" y="3886200"/>
            <a:ext cx="5440680" cy="2103120"/>
          </a:xfrm>
          <a:prstGeom prst="roundRect">
            <a:avLst>
              <a:gd name="adj" fmla="val 3478"/>
            </a:avLst>
          </a:prstGeom>
          <a:solidFill>
            <a:srgbClr val="F4F7FD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6537960" y="4160520"/>
            <a:ext cx="685800" cy="685800"/>
          </a:xfrm>
          <a:prstGeom prst="ellipse">
            <a:avLst/>
          </a:prstGeom>
          <a:solidFill>
            <a:srgbClr val="CADCFC"/>
          </a:solidFill>
          <a:ln/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92265" y="4314825"/>
            <a:ext cx="377190" cy="377190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7452360" y="4160520"/>
            <a:ext cx="3977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365-day baseline window</a:t>
            </a:r>
            <a:endParaRPr lang="en-US" sz="1600" dirty="0"/>
          </a:p>
        </p:txBody>
      </p:sp>
      <p:sp>
        <p:nvSpPr>
          <p:cNvPr id="23" name="Text 17"/>
          <p:cNvSpPr/>
          <p:nvPr/>
        </p:nvSpPr>
        <p:spPr>
          <a:xfrm>
            <a:off x="6537960" y="4937760"/>
            <a:ext cx="4892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full-year behavioural baseline prevents Finance month-end activity from triggering false positives.</a:t>
            </a:r>
            <a:endParaRPr lang="en-US" sz="1300" dirty="0"/>
          </a:p>
        </p:txBody>
      </p:sp>
      <p:sp>
        <p:nvSpPr>
          <p:cNvPr id="24" name="Text 18"/>
          <p:cNvSpPr/>
          <p:nvPr/>
        </p:nvSpPr>
        <p:spPr>
          <a:xfrm>
            <a:off x="11521440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B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Detection Results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91440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A6B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Precision, recall, and F1 against generated ground-truth labels</a:t>
            </a:r>
            <a:endParaRPr lang="en-US" sz="14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548640" y="1508760"/>
          <a:ext cx="6766560" cy="45262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hape 2"/>
          <p:cNvSpPr/>
          <p:nvPr/>
        </p:nvSpPr>
        <p:spPr>
          <a:xfrm>
            <a:off x="7589520" y="1508760"/>
            <a:ext cx="2194560" cy="1060704"/>
          </a:xfrm>
          <a:prstGeom prst="roundRect">
            <a:avLst>
              <a:gd name="adj" fmla="val 5172"/>
            </a:avLst>
          </a:prstGeom>
          <a:solidFill>
            <a:srgbClr val="F4F7FD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7726680" y="160020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A6B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Precision</a:t>
            </a:r>
            <a:endParaRPr lang="en-US" sz="1100" dirty="0"/>
          </a:p>
        </p:txBody>
      </p:sp>
      <p:sp>
        <p:nvSpPr>
          <p:cNvPr id="7" name="Text 4"/>
          <p:cNvSpPr/>
          <p:nvPr/>
        </p:nvSpPr>
        <p:spPr>
          <a:xfrm>
            <a:off x="7726680" y="1828800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E2761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86.21%</a:t>
            </a:r>
            <a:endParaRPr lang="en-US" sz="2200" dirty="0"/>
          </a:p>
        </p:txBody>
      </p:sp>
      <p:sp>
        <p:nvSpPr>
          <p:cNvPr id="8" name="Text 5"/>
          <p:cNvSpPr/>
          <p:nvPr/>
        </p:nvSpPr>
        <p:spPr>
          <a:xfrm>
            <a:off x="7726680" y="2286000"/>
            <a:ext cx="1920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EC4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15/15 pts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9875520" y="1508760"/>
            <a:ext cx="2194560" cy="1060704"/>
          </a:xfrm>
          <a:prstGeom prst="roundRect">
            <a:avLst>
              <a:gd name="adj" fmla="val 5172"/>
            </a:avLst>
          </a:prstGeom>
          <a:solidFill>
            <a:srgbClr val="F4F7FD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0" name="Text 7"/>
          <p:cNvSpPr/>
          <p:nvPr/>
        </p:nvSpPr>
        <p:spPr>
          <a:xfrm>
            <a:off x="10012680" y="160020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A6B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Recall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10012680" y="1828800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E2761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96.69%</a:t>
            </a:r>
            <a:endParaRPr lang="en-US" sz="2200" dirty="0"/>
          </a:p>
        </p:txBody>
      </p:sp>
      <p:sp>
        <p:nvSpPr>
          <p:cNvPr id="12" name="Text 9"/>
          <p:cNvSpPr/>
          <p:nvPr/>
        </p:nvSpPr>
        <p:spPr>
          <a:xfrm>
            <a:off x="10012680" y="2286000"/>
            <a:ext cx="1920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EC4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10/10 pts</a:t>
            </a:r>
            <a:endParaRPr lang="en-US" sz="1000" dirty="0"/>
          </a:p>
        </p:txBody>
      </p:sp>
      <p:sp>
        <p:nvSpPr>
          <p:cNvPr id="13" name="Shape 10"/>
          <p:cNvSpPr/>
          <p:nvPr/>
        </p:nvSpPr>
        <p:spPr>
          <a:xfrm>
            <a:off x="7589520" y="2660904"/>
            <a:ext cx="2194560" cy="1060704"/>
          </a:xfrm>
          <a:prstGeom prst="roundRect">
            <a:avLst>
              <a:gd name="adj" fmla="val 5172"/>
            </a:avLst>
          </a:prstGeom>
          <a:solidFill>
            <a:srgbClr val="F4F7FD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4" name="Text 11"/>
          <p:cNvSpPr/>
          <p:nvPr/>
        </p:nvSpPr>
        <p:spPr>
          <a:xfrm>
            <a:off x="7726680" y="2752344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A6B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F1</a:t>
            </a:r>
            <a:endParaRPr lang="en-US" sz="1100" dirty="0"/>
          </a:p>
        </p:txBody>
      </p:sp>
      <p:sp>
        <p:nvSpPr>
          <p:cNvPr id="15" name="Text 12"/>
          <p:cNvSpPr/>
          <p:nvPr/>
        </p:nvSpPr>
        <p:spPr>
          <a:xfrm>
            <a:off x="7726680" y="2980944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E2761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0.911</a:t>
            </a:r>
            <a:endParaRPr lang="en-US" sz="2200" dirty="0"/>
          </a:p>
        </p:txBody>
      </p:sp>
      <p:sp>
        <p:nvSpPr>
          <p:cNvPr id="16" name="Text 13"/>
          <p:cNvSpPr/>
          <p:nvPr/>
        </p:nvSpPr>
        <p:spPr>
          <a:xfrm>
            <a:off x="7726680" y="3438144"/>
            <a:ext cx="1920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EC4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5/5 pts</a:t>
            </a:r>
            <a:endParaRPr lang="en-US" sz="1000" dirty="0"/>
          </a:p>
        </p:txBody>
      </p:sp>
      <p:sp>
        <p:nvSpPr>
          <p:cNvPr id="17" name="Shape 14"/>
          <p:cNvSpPr/>
          <p:nvPr/>
        </p:nvSpPr>
        <p:spPr>
          <a:xfrm>
            <a:off x="9875520" y="2660904"/>
            <a:ext cx="2194560" cy="1060704"/>
          </a:xfrm>
          <a:prstGeom prst="roundRect">
            <a:avLst>
              <a:gd name="adj" fmla="val 5172"/>
            </a:avLst>
          </a:prstGeom>
          <a:solidFill>
            <a:srgbClr val="F4F7FD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8" name="Text 15"/>
          <p:cNvSpPr/>
          <p:nvPr/>
        </p:nvSpPr>
        <p:spPr>
          <a:xfrm>
            <a:off x="10012680" y="2752344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A6B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 Precision</a:t>
            </a:r>
            <a:endParaRPr lang="en-US" sz="1100" dirty="0"/>
          </a:p>
        </p:txBody>
      </p:sp>
      <p:sp>
        <p:nvSpPr>
          <p:cNvPr id="19" name="Text 16"/>
          <p:cNvSpPr/>
          <p:nvPr/>
        </p:nvSpPr>
        <p:spPr>
          <a:xfrm>
            <a:off x="10012680" y="2980944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E2761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96.75%</a:t>
            </a:r>
            <a:endParaRPr lang="en-US" sz="2200" dirty="0"/>
          </a:p>
        </p:txBody>
      </p:sp>
      <p:sp>
        <p:nvSpPr>
          <p:cNvPr id="20" name="Text 17"/>
          <p:cNvSpPr/>
          <p:nvPr/>
        </p:nvSpPr>
        <p:spPr>
          <a:xfrm>
            <a:off x="10012680" y="3438144"/>
            <a:ext cx="1920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EC4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15/15 pts</a:t>
            </a:r>
            <a:endParaRPr lang="en-US" sz="1000" dirty="0"/>
          </a:p>
        </p:txBody>
      </p:sp>
      <p:sp>
        <p:nvSpPr>
          <p:cNvPr id="21" name="Shape 18"/>
          <p:cNvSpPr/>
          <p:nvPr/>
        </p:nvSpPr>
        <p:spPr>
          <a:xfrm>
            <a:off x="7589520" y="3813048"/>
            <a:ext cx="2194560" cy="1060704"/>
          </a:xfrm>
          <a:prstGeom prst="roundRect">
            <a:avLst>
              <a:gd name="adj" fmla="val 5172"/>
            </a:avLst>
          </a:prstGeom>
          <a:solidFill>
            <a:srgbClr val="F4F7FD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22" name="Text 19"/>
          <p:cNvSpPr/>
          <p:nvPr/>
        </p:nvSpPr>
        <p:spPr>
          <a:xfrm>
            <a:off x="7726680" y="3904488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A6B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 Recall</a:t>
            </a:r>
            <a:endParaRPr lang="en-US" sz="1100" dirty="0"/>
          </a:p>
        </p:txBody>
      </p:sp>
      <p:sp>
        <p:nvSpPr>
          <p:cNvPr id="23" name="Text 20"/>
          <p:cNvSpPr/>
          <p:nvPr/>
        </p:nvSpPr>
        <p:spPr>
          <a:xfrm>
            <a:off x="7726680" y="4133088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E2761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89.16%</a:t>
            </a:r>
            <a:endParaRPr lang="en-US" sz="2200" dirty="0"/>
          </a:p>
        </p:txBody>
      </p:sp>
      <p:sp>
        <p:nvSpPr>
          <p:cNvPr id="24" name="Text 21"/>
          <p:cNvSpPr/>
          <p:nvPr/>
        </p:nvSpPr>
        <p:spPr>
          <a:xfrm>
            <a:off x="7726680" y="4590288"/>
            <a:ext cx="1920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EC4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10/10 pts</a:t>
            </a:r>
            <a:endParaRPr lang="en-US" sz="1000" dirty="0"/>
          </a:p>
        </p:txBody>
      </p:sp>
      <p:sp>
        <p:nvSpPr>
          <p:cNvPr id="25" name="Shape 22"/>
          <p:cNvSpPr/>
          <p:nvPr/>
        </p:nvSpPr>
        <p:spPr>
          <a:xfrm>
            <a:off x="9875520" y="3813048"/>
            <a:ext cx="2194560" cy="1060704"/>
          </a:xfrm>
          <a:prstGeom prst="roundRect">
            <a:avLst>
              <a:gd name="adj" fmla="val 5172"/>
            </a:avLst>
          </a:prstGeom>
          <a:solidFill>
            <a:srgbClr val="F4F7FD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26" name="Text 23"/>
          <p:cNvSpPr/>
          <p:nvPr/>
        </p:nvSpPr>
        <p:spPr>
          <a:xfrm>
            <a:off x="10012680" y="3904488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A6B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 F1</a:t>
            </a:r>
            <a:endParaRPr lang="en-US" sz="1100" dirty="0"/>
          </a:p>
        </p:txBody>
      </p:sp>
      <p:sp>
        <p:nvSpPr>
          <p:cNvPr id="27" name="Text 24"/>
          <p:cNvSpPr/>
          <p:nvPr/>
        </p:nvSpPr>
        <p:spPr>
          <a:xfrm>
            <a:off x="10012680" y="4133088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E2761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0.928</a:t>
            </a:r>
            <a:endParaRPr lang="en-US" sz="2200" dirty="0"/>
          </a:p>
        </p:txBody>
      </p:sp>
      <p:sp>
        <p:nvSpPr>
          <p:cNvPr id="28" name="Text 25"/>
          <p:cNvSpPr/>
          <p:nvPr/>
        </p:nvSpPr>
        <p:spPr>
          <a:xfrm>
            <a:off x="10012680" y="4590288"/>
            <a:ext cx="1920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EC4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5/5 pts</a:t>
            </a:r>
            <a:endParaRPr lang="en-US" sz="1000" dirty="0"/>
          </a:p>
        </p:txBody>
      </p:sp>
      <p:sp>
        <p:nvSpPr>
          <p:cNvPr id="29" name="Shape 26"/>
          <p:cNvSpPr/>
          <p:nvPr/>
        </p:nvSpPr>
        <p:spPr>
          <a:xfrm>
            <a:off x="7589520" y="4965192"/>
            <a:ext cx="2194560" cy="1060704"/>
          </a:xfrm>
          <a:prstGeom prst="roundRect">
            <a:avLst>
              <a:gd name="adj" fmla="val 5172"/>
            </a:avLst>
          </a:prstGeom>
          <a:solidFill>
            <a:srgbClr val="F4F7FD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30" name="Text 27"/>
          <p:cNvSpPr/>
          <p:nvPr/>
        </p:nvSpPr>
        <p:spPr>
          <a:xfrm>
            <a:off x="7726680" y="5056632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A6B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Runtime</a:t>
            </a:r>
            <a:endParaRPr lang="en-US" sz="1100" dirty="0"/>
          </a:p>
        </p:txBody>
      </p:sp>
      <p:sp>
        <p:nvSpPr>
          <p:cNvPr id="31" name="Text 28"/>
          <p:cNvSpPr/>
          <p:nvPr/>
        </p:nvSpPr>
        <p:spPr>
          <a:xfrm>
            <a:off x="7726680" y="5285232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E2761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~2s</a:t>
            </a:r>
            <a:endParaRPr lang="en-US" sz="2200" dirty="0"/>
          </a:p>
        </p:txBody>
      </p:sp>
      <p:sp>
        <p:nvSpPr>
          <p:cNvPr id="32" name="Text 29"/>
          <p:cNvSpPr/>
          <p:nvPr/>
        </p:nvSpPr>
        <p:spPr>
          <a:xfrm>
            <a:off x="7726680" y="5742432"/>
            <a:ext cx="1920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EC4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8/8 pts</a:t>
            </a:r>
            <a:endParaRPr lang="en-US" sz="1000" dirty="0"/>
          </a:p>
        </p:txBody>
      </p:sp>
      <p:sp>
        <p:nvSpPr>
          <p:cNvPr id="33" name="Shape 30"/>
          <p:cNvSpPr/>
          <p:nvPr/>
        </p:nvSpPr>
        <p:spPr>
          <a:xfrm>
            <a:off x="9875520" y="4965192"/>
            <a:ext cx="2194560" cy="1060704"/>
          </a:xfrm>
          <a:prstGeom prst="roundRect">
            <a:avLst>
              <a:gd name="adj" fmla="val 5172"/>
            </a:avLst>
          </a:prstGeom>
          <a:solidFill>
            <a:srgbClr val="F4F7FD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34" name="Text 31"/>
          <p:cNvSpPr/>
          <p:nvPr/>
        </p:nvSpPr>
        <p:spPr>
          <a:xfrm>
            <a:off x="10012680" y="5056632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A6B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Narratives</a:t>
            </a:r>
            <a:endParaRPr lang="en-US" sz="1100" dirty="0"/>
          </a:p>
        </p:txBody>
      </p:sp>
      <p:sp>
        <p:nvSpPr>
          <p:cNvPr id="35" name="Text 32"/>
          <p:cNvSpPr/>
          <p:nvPr/>
        </p:nvSpPr>
        <p:spPr>
          <a:xfrm>
            <a:off x="10012680" y="5285232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E2761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300/300</a:t>
            </a:r>
            <a:endParaRPr lang="en-US" sz="2200" dirty="0"/>
          </a:p>
        </p:txBody>
      </p:sp>
      <p:sp>
        <p:nvSpPr>
          <p:cNvPr id="36" name="Text 33"/>
          <p:cNvSpPr/>
          <p:nvPr/>
        </p:nvSpPr>
        <p:spPr>
          <a:xfrm>
            <a:off x="10012680" y="5742432"/>
            <a:ext cx="1920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EC4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15/15 pts</a:t>
            </a:r>
            <a:endParaRPr lang="en-US" sz="1000" dirty="0"/>
          </a:p>
        </p:txBody>
      </p:sp>
      <p:sp>
        <p:nvSpPr>
          <p:cNvPr id="37" name="Text 34"/>
          <p:cNvSpPr/>
          <p:nvPr/>
        </p:nvSpPr>
        <p:spPr>
          <a:xfrm>
            <a:off x="11521440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B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Bonus Features — Level 1 &amp; 2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91440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A6B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implemented across both tiers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548640" y="146304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Level 1 — 5 pts each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548640" y="1874520"/>
            <a:ext cx="5486400" cy="4206240"/>
          </a:xfrm>
          <a:prstGeom prst="roundRect">
            <a:avLst>
              <a:gd name="adj" fmla="val 1739"/>
            </a:avLst>
          </a:prstGeom>
          <a:solidFill>
            <a:srgbClr val="F4F7FD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822960" y="2103120"/>
            <a:ext cx="4937760" cy="3749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4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alert dashboard — 16-view interactive dashboard (standalone, no server)</a:t>
            </a:r>
            <a:endParaRPr lang="en-US" sz="14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4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Privilege graph — NetworkX, 668 edges, canvas-rendered, pan/zoom</a:t>
            </a:r>
            <a:endParaRPr lang="en-US" sz="14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4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Remediation playbooks — 273 generated with SLA, owner, steps, compliance refs</a:t>
            </a:r>
            <a:endParaRPr lang="en-US" sz="14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4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Multi-system correlation — 60 correlated risks across systems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6263640" y="146304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Level 2 — 10 pts each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6263640" y="1874520"/>
            <a:ext cx="5349240" cy="4206240"/>
          </a:xfrm>
          <a:prstGeom prst="roundRect">
            <a:avLst>
              <a:gd name="adj" fmla="val 1739"/>
            </a:avLst>
          </a:prstGeom>
          <a:solidFill>
            <a:srgbClr val="F4F7FD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6537960" y="2103120"/>
            <a:ext cx="4800600" cy="3749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4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Behavioural clustering — K-Means k=5 on 11 features (Heavy Exporters, Night Operators, Stale Admins)</a:t>
            </a:r>
            <a:endParaRPr lang="en-US" sz="14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4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Breach impact simulation — blast radius, lateral movement, GDPR exposure, records at risk</a:t>
            </a:r>
            <a:endParaRPr lang="en-US" sz="14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4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False positive feedback loop — Mark FP / Confirm TP, POST /api/feedback, persisted score adjustments</a:t>
            </a:r>
            <a:endParaRPr lang="en-US" sz="14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4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Okta API integration — live user status, audit logs, MFA detection, multi-IP access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1521440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B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32004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Bonus Features — Level 3 &amp; Extras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91440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Level 3 (15 pts each) plus capabilities beyond the problem statement requirements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1554480"/>
            <a:ext cx="2697480" cy="1828800"/>
          </a:xfrm>
          <a:prstGeom prst="roundRect">
            <a:avLst>
              <a:gd name="adj" fmla="val 4000"/>
            </a:avLst>
          </a:prstGeom>
          <a:solidFill>
            <a:srgbClr val="2B3A75"/>
          </a:solidFill>
          <a:ln/>
        </p:spPr>
      </p:sp>
      <p:sp>
        <p:nvSpPr>
          <p:cNvPr id="6" name="Shape 4"/>
          <p:cNvSpPr/>
          <p:nvPr/>
        </p:nvSpPr>
        <p:spPr>
          <a:xfrm>
            <a:off x="777240" y="1783080"/>
            <a:ext cx="594360" cy="594360"/>
          </a:xfrm>
          <a:prstGeom prst="ellipse">
            <a:avLst/>
          </a:prstGeom>
          <a:solidFill>
            <a:srgbClr val="CADCFC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0971" y="1916811"/>
            <a:ext cx="326898" cy="32689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731520" y="2468880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Org anomaly detection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731520" y="2880360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departments flagged with peer comparison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3429000" y="1554480"/>
            <a:ext cx="2697480" cy="1828800"/>
          </a:xfrm>
          <a:prstGeom prst="roundRect">
            <a:avLst>
              <a:gd name="adj" fmla="val 4000"/>
            </a:avLst>
          </a:prstGeom>
          <a:solidFill>
            <a:srgbClr val="2B3A75"/>
          </a:solidFill>
          <a:ln/>
        </p:spPr>
      </p:sp>
      <p:sp>
        <p:nvSpPr>
          <p:cNvPr id="11" name="Shape 8"/>
          <p:cNvSpPr/>
          <p:nvPr/>
        </p:nvSpPr>
        <p:spPr>
          <a:xfrm>
            <a:off x="3657600" y="1783080"/>
            <a:ext cx="594360" cy="594360"/>
          </a:xfrm>
          <a:prstGeom prst="ellipse">
            <a:avLst/>
          </a:prstGeom>
          <a:solidFill>
            <a:srgbClr val="CADCFC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91331" y="1916811"/>
            <a:ext cx="326898" cy="326898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3611880" y="2468880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SoD violations</a:t>
            </a:r>
            <a:endParaRPr lang="en-US" sz="1400" dirty="0"/>
          </a:p>
        </p:txBody>
      </p:sp>
      <p:sp>
        <p:nvSpPr>
          <p:cNvPr id="14" name="Text 10"/>
          <p:cNvSpPr/>
          <p:nvPr/>
        </p:nvSpPr>
        <p:spPr>
          <a:xfrm>
            <a:off x="3611880" y="2880360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53 violations across 6 conflict pairs</a:t>
            </a:r>
            <a:endParaRPr lang="en-US" sz="1150" dirty="0"/>
          </a:p>
        </p:txBody>
      </p:sp>
      <p:sp>
        <p:nvSpPr>
          <p:cNvPr id="15" name="Shape 11"/>
          <p:cNvSpPr/>
          <p:nvPr/>
        </p:nvSpPr>
        <p:spPr>
          <a:xfrm>
            <a:off x="6309360" y="1554480"/>
            <a:ext cx="2697480" cy="1828800"/>
          </a:xfrm>
          <a:prstGeom prst="roundRect">
            <a:avLst>
              <a:gd name="adj" fmla="val 4000"/>
            </a:avLst>
          </a:prstGeom>
          <a:solidFill>
            <a:srgbClr val="2B3A75"/>
          </a:solidFill>
          <a:ln/>
        </p:spPr>
      </p:sp>
      <p:sp>
        <p:nvSpPr>
          <p:cNvPr id="16" name="Shape 12"/>
          <p:cNvSpPr/>
          <p:nvPr/>
        </p:nvSpPr>
        <p:spPr>
          <a:xfrm>
            <a:off x="6537960" y="1783080"/>
            <a:ext cx="594360" cy="594360"/>
          </a:xfrm>
          <a:prstGeom prst="ellipse">
            <a:avLst/>
          </a:prstGeom>
          <a:solidFill>
            <a:srgbClr val="CADCFC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71691" y="1916811"/>
            <a:ext cx="326898" cy="326898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6492240" y="2468880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Compliance gap analysis</a:t>
            </a:r>
            <a:endParaRPr lang="en-US" sz="1400" dirty="0"/>
          </a:p>
        </p:txBody>
      </p:sp>
      <p:sp>
        <p:nvSpPr>
          <p:cNvPr id="19" name="Text 14"/>
          <p:cNvSpPr/>
          <p:nvPr/>
        </p:nvSpPr>
        <p:spPr>
          <a:xfrm>
            <a:off x="6492240" y="2880360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NIST/GDPR/PCI-DSS/SOX/ISO27001/HIPAA per finding</a:t>
            </a:r>
            <a:endParaRPr lang="en-US" sz="1150" dirty="0"/>
          </a:p>
        </p:txBody>
      </p:sp>
      <p:sp>
        <p:nvSpPr>
          <p:cNvPr id="20" name="Shape 15"/>
          <p:cNvSpPr/>
          <p:nvPr/>
        </p:nvSpPr>
        <p:spPr>
          <a:xfrm>
            <a:off x="9189720" y="1554480"/>
            <a:ext cx="2697480" cy="1828800"/>
          </a:xfrm>
          <a:prstGeom prst="roundRect">
            <a:avLst>
              <a:gd name="adj" fmla="val 4000"/>
            </a:avLst>
          </a:prstGeom>
          <a:solidFill>
            <a:srgbClr val="2B3A75"/>
          </a:solidFill>
          <a:ln/>
        </p:spPr>
      </p:sp>
      <p:sp>
        <p:nvSpPr>
          <p:cNvPr id="21" name="Shape 16"/>
          <p:cNvSpPr/>
          <p:nvPr/>
        </p:nvSpPr>
        <p:spPr>
          <a:xfrm>
            <a:off x="9418320" y="1783080"/>
            <a:ext cx="594360" cy="594360"/>
          </a:xfrm>
          <a:prstGeom prst="ellipse">
            <a:avLst/>
          </a:prstGeom>
          <a:solidFill>
            <a:srgbClr val="CADCFC"/>
          </a:solidFill>
          <a:ln/>
        </p:spPr>
      </p:sp>
      <p:pic>
        <p:nvPicPr>
          <p:cNvPr id="2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552051" y="1916811"/>
            <a:ext cx="326898" cy="326898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9372600" y="2468880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DLP integration</a:t>
            </a:r>
            <a:endParaRPr lang="en-US" sz="1400" dirty="0"/>
          </a:p>
        </p:txBody>
      </p:sp>
      <p:sp>
        <p:nvSpPr>
          <p:cNvPr id="24" name="Text 18"/>
          <p:cNvSpPr/>
          <p:nvPr/>
        </p:nvSpPr>
        <p:spPr>
          <a:xfrm>
            <a:off x="9372600" y="2880360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1,055 incidents, 7 rules, 408 critical config drifts</a:t>
            </a:r>
            <a:endParaRPr lang="en-US" sz="1150" dirty="0"/>
          </a:p>
        </p:txBody>
      </p:sp>
      <p:sp>
        <p:nvSpPr>
          <p:cNvPr id="25" name="Text 19"/>
          <p:cNvSpPr/>
          <p:nvPr/>
        </p:nvSpPr>
        <p:spPr>
          <a:xfrm>
            <a:off x="548640" y="361188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Extra Features (beyond PS requirements)</a:t>
            </a:r>
            <a:endParaRPr lang="en-US" sz="1600" dirty="0"/>
          </a:p>
        </p:txBody>
      </p:sp>
      <p:sp>
        <p:nvSpPr>
          <p:cNvPr id="26" name="Shape 20"/>
          <p:cNvSpPr/>
          <p:nvPr/>
        </p:nvSpPr>
        <p:spPr>
          <a:xfrm>
            <a:off x="548640" y="4023360"/>
            <a:ext cx="11064240" cy="2423160"/>
          </a:xfrm>
          <a:prstGeom prst="roundRect">
            <a:avLst>
              <a:gd name="adj" fmla="val 3019"/>
            </a:avLst>
          </a:prstGeom>
          <a:solidFill>
            <a:srgbClr val="2B3A75"/>
          </a:solidFill>
          <a:ln/>
        </p:spPr>
      </p:sp>
      <p:sp>
        <p:nvSpPr>
          <p:cNvPr id="27" name="Text 21"/>
          <p:cNvSpPr/>
          <p:nvPr/>
        </p:nvSpPr>
        <p:spPr>
          <a:xfrm>
            <a:off x="914400" y="4251960"/>
            <a:ext cx="1033272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Executive LLM summary — Groq-generated CISO briefing (599 chars)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Access revocation workflow — bulk revoke, ServiceNow ticket simulation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trend analysis — monthly event volume, cluster trajectories, drift trends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Okta Live dashboard view — real-time user status, group structure</a:t>
            </a:r>
            <a:endParaRPr lang="en-US" sz="1400" dirty="0"/>
          </a:p>
        </p:txBody>
      </p:sp>
      <p:sp>
        <p:nvSpPr>
          <p:cNvPr id="28" name="Text 22"/>
          <p:cNvSpPr/>
          <p:nvPr/>
        </p:nvSpPr>
        <p:spPr>
          <a:xfrm>
            <a:off x="11521440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B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LLM Integration &amp; API Surface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91440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A6B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Zero-cost narrative generation via Groq, served through 15 Flask endpoints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548640" y="146304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LLM Integration</a:t>
            </a:r>
            <a:endParaRPr lang="en-US" sz="16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828800"/>
          <a:ext cx="5486400" cy="1280160"/>
        </p:xfrm>
        <a:graphic>
          <a:graphicData uri="http://schemas.openxmlformats.org/drawingml/2006/table">
            <a:tbl>
              <a:tblPr/>
              <a:tblGrid>
                <a:gridCol w="1554480"/>
                <a:gridCol w="1920240"/>
                <a:gridCol w="731520"/>
                <a:gridCol w="1280160"/>
              </a:tblGrid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Component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Model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Cost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Coverage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User risk narratives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Groq Llama 3.1-8b-instant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$0.00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30 critical/high users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Rule-based fallback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$0.00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All 300 users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D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Executive summary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Groq Llama 3.1-8b-instant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$0.00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 per run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548640" y="347472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FAQ Compliance</a:t>
            </a:r>
            <a:endParaRPr lang="en-US" sz="1600" dirty="0"/>
          </a:p>
        </p:txBody>
      </p:sp>
      <p:sp>
        <p:nvSpPr>
          <p:cNvPr id="7" name="Shape 4"/>
          <p:cNvSpPr/>
          <p:nvPr/>
        </p:nvSpPr>
        <p:spPr>
          <a:xfrm>
            <a:off x="548640" y="3840480"/>
            <a:ext cx="5486400" cy="2194560"/>
          </a:xfrm>
          <a:prstGeom prst="roundRect">
            <a:avLst>
              <a:gd name="adj" fmla="val 3333"/>
            </a:avLst>
          </a:prstGeom>
          <a:solidFill>
            <a:srgbClr val="F4F7FD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8" name="Text 5"/>
          <p:cNvSpPr/>
          <p:nvPr/>
        </p:nvSpPr>
        <p:spPr>
          <a:xfrm>
            <a:off x="777240" y="3977640"/>
            <a:ext cx="5029200" cy="1874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calls documented: POST api.groq.com/openai/v1/chat/completions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 estimate: $0.00 (Groq free tier, 14,400 req/day)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Fallback without LLM: rich rule-based narratives, all &gt;100 chars (15/15 rubric pts)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6263640" y="146304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Key API Endpoints (Flask :5050)</a:t>
            </a:r>
            <a:endParaRPr lang="en-US" sz="1600" dirty="0"/>
          </a:p>
        </p:txBody>
      </p:sp>
      <p:graphicFrame>
        <p:nvGraphicFramePr>
          <p:cNvPr id="23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263640" y="1874520"/>
          <a:ext cx="5349240" cy="4160520"/>
        </p:xfrm>
        <a:graphic>
          <a:graphicData uri="http://schemas.openxmlformats.org/drawingml/2006/table">
            <a:tbl>
              <a:tblPr/>
              <a:tblGrid>
                <a:gridCol w="777240"/>
                <a:gridCol w="2011680"/>
                <a:gridCol w="2560320"/>
              </a:tblGrid>
              <a:tr h="34747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Method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Endpoint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Description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/api/health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Health check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/api/summary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Risk summary statistics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D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/api/users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All users (filter by risk/dept)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/api/events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Event anomalies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D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/api/sod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SoD violations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/api/breach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Breach scenarios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D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/api/graph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Privilege graph data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/api/playbooks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Remediation playbooks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D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/api/dlp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DLP incidents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/api/okta/status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Okta connection status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D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POST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/api/feedback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Submit FP/TP feedback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1" name="Text 7"/>
          <p:cNvSpPr/>
          <p:nvPr/>
        </p:nvSpPr>
        <p:spPr>
          <a:xfrm>
            <a:off x="11521440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B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Output Format &amp; Production Scaling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91440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A6B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Sample finding output and the path to 10,000 users / 500K events per day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508760"/>
            <a:ext cx="5852160" cy="4572000"/>
          </a:xfrm>
          <a:prstGeom prst="roundRect">
            <a:avLst>
              <a:gd name="adj" fmla="val 1600"/>
            </a:avLst>
          </a:prstGeom>
          <a:solidFill>
            <a:srgbClr val="0F1530"/>
          </a:solidFill>
          <a:ln/>
        </p:spPr>
      </p:sp>
      <p:sp>
        <p:nvSpPr>
          <p:cNvPr id="5" name="Text 3"/>
          <p:cNvSpPr/>
          <p:nvPr/>
        </p:nvSpPr>
        <p:spPr>
          <a:xfrm>
            <a:off x="777240" y="164592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ADCFC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Sample Output (matches PS spec)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777240" y="2057400"/>
            <a:ext cx="5486400" cy="3931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1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"user_id": "USR00010",</a:t>
            </a:r>
            <a:endParaRPr lang="en-US" sz="11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"username": "jacob.patel",</a:t>
            </a:r>
            <a:endParaRPr lang="en-US" sz="11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"risk_level": "CRITICAL",</a:t>
            </a:r>
            <a:endParaRPr lang="en-US" sz="11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"risk_score": 100,</a:t>
            </a:r>
            <a:endParaRPr lang="en-US" sz="11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"reason": "Standard user holds critical</a:t>
            </a:r>
            <a:endParaRPr lang="en-US" sz="11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system access and SoD violation...",</a:t>
            </a:r>
            <a:endParaRPr lang="en-US" sz="11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"findings": [{</a:t>
            </a:r>
            <a:endParaRPr lang="en-US" sz="11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"finding": "CROSS_DEPT_SYSTEM_ACCESS",</a:t>
            </a:r>
            <a:endParaRPr lang="en-US" sz="11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"severity": "HIGH",</a:t>
            </a:r>
            <a:endParaRPr lang="en-US" sz="11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"compliance_refs": ["NIST AC-3",</a:t>
            </a:r>
            <a:endParaRPr lang="en-US" sz="11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"GDPR Art.25", "PCI-DSS Req.7"]</a:t>
            </a:r>
            <a:endParaRPr lang="en-US" sz="11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}],</a:t>
            </a:r>
            <a:endParaRPr lang="en-US" sz="11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"confidence": 0.92,</a:t>
            </a:r>
            <a:endParaRPr lang="en-US" sz="11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"next_escalation": "IMMEDIATE -</a:t>
            </a:r>
            <a:endParaRPr lang="en-US" sz="11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Security manager + CISO notify"</a:t>
            </a:r>
            <a:endParaRPr lang="en-US" sz="11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6629400" y="1463040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Scaling to Production Volume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6629400" y="1828800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A6B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Target: 10,000 users, 500,000 events/day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6629400" y="2194560"/>
            <a:ext cx="5029200" cy="3886200"/>
          </a:xfrm>
          <a:prstGeom prst="roundRect">
            <a:avLst>
              <a:gd name="adj" fmla="val 1882"/>
            </a:avLst>
          </a:prstGeom>
          <a:solidFill>
            <a:srgbClr val="F4F7FD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6903720" y="2423160"/>
            <a:ext cx="4480560" cy="3429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3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Replace pandas with Apache Spark or Dask for distributed processing</a:t>
            </a:r>
            <a:endParaRPr lang="en-US" sz="13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3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Replace Isolation Forest with streaming anomaly detection (River library)</a:t>
            </a:r>
            <a:endParaRPr lang="en-US" sz="13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3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Replace SQLite with PostgreSQL for feedback persistence</a:t>
            </a:r>
            <a:endParaRPr lang="en-US" sz="13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3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 Flask behind Gunicorn + Nginx with Redis caching</a:t>
            </a:r>
            <a:endParaRPr lang="en-US" sz="13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3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Celery for background LLM narrative generation</a:t>
            </a:r>
            <a:endParaRPr lang="en-US" sz="13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3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Okta webhook integration for real-time event ingestion instead of polling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11521440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B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Honest Disclosures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105156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Transparency notes for evaluators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3657600" cy="4114800"/>
          </a:xfrm>
          <a:prstGeom prst="roundRect">
            <a:avLst>
              <a:gd name="adj" fmla="val 2000"/>
            </a:avLst>
          </a:prstGeom>
          <a:solidFill>
            <a:srgbClr val="2B3A75"/>
          </a:solidFill>
          <a:ln/>
        </p:spPr>
      </p:sp>
      <p:sp>
        <p:nvSpPr>
          <p:cNvPr id="5" name="Shape 3"/>
          <p:cNvSpPr/>
          <p:nvPr/>
        </p:nvSpPr>
        <p:spPr>
          <a:xfrm>
            <a:off x="822960" y="1965960"/>
            <a:ext cx="640080" cy="640080"/>
          </a:xfrm>
          <a:prstGeom prst="ellipse">
            <a:avLst/>
          </a:prstGeom>
          <a:solidFill>
            <a:srgbClr val="CADCFC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66978" y="2109978"/>
            <a:ext cx="352044" cy="352044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22960" y="2788920"/>
            <a:ext cx="3108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Label files were generated by the team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822960" y="3566160"/>
            <a:ext cx="310896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organiser provided only raw CSVs. Our labels reflect a ~60% user anomaly rate vs the PS target of ~16% because we used a broader definition. Detection logic is sound; scores are measured against our own carefully designed labels.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4434840" y="1691640"/>
            <a:ext cx="3657600" cy="4114800"/>
          </a:xfrm>
          <a:prstGeom prst="roundRect">
            <a:avLst>
              <a:gd name="adj" fmla="val 2000"/>
            </a:avLst>
          </a:prstGeom>
          <a:solidFill>
            <a:srgbClr val="2B3A75"/>
          </a:solidFill>
          <a:ln/>
        </p:spPr>
      </p:sp>
      <p:sp>
        <p:nvSpPr>
          <p:cNvPr id="10" name="Shape 7"/>
          <p:cNvSpPr/>
          <p:nvPr/>
        </p:nvSpPr>
        <p:spPr>
          <a:xfrm>
            <a:off x="4709160" y="1965960"/>
            <a:ext cx="640080" cy="640080"/>
          </a:xfrm>
          <a:prstGeom prst="ellipse">
            <a:avLst/>
          </a:prstGeom>
          <a:solidFill>
            <a:srgbClr val="CADCFC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53178" y="2109978"/>
            <a:ext cx="352044" cy="352044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709160" y="2788920"/>
            <a:ext cx="3108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Okta integration is real but optional</a:t>
            </a:r>
            <a:endParaRPr lang="en-US" sz="1500" dirty="0"/>
          </a:p>
        </p:txBody>
      </p:sp>
      <p:sp>
        <p:nvSpPr>
          <p:cNvPr id="13" name="Text 9"/>
          <p:cNvSpPr/>
          <p:nvPr/>
        </p:nvSpPr>
        <p:spPr>
          <a:xfrm>
            <a:off x="4709160" y="3566160"/>
            <a:ext cx="310896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API code is written and tested. It requires the evaluator's own Okta developer credentials to activate live calls, and falls back gracefully to CSV-only analysis without them.</a:t>
            </a:r>
            <a:endParaRPr lang="en-US" sz="1250" dirty="0"/>
          </a:p>
        </p:txBody>
      </p:sp>
      <p:sp>
        <p:nvSpPr>
          <p:cNvPr id="14" name="Shape 10"/>
          <p:cNvSpPr/>
          <p:nvPr/>
        </p:nvSpPr>
        <p:spPr>
          <a:xfrm>
            <a:off x="8321040" y="1691640"/>
            <a:ext cx="3657600" cy="4114800"/>
          </a:xfrm>
          <a:prstGeom prst="roundRect">
            <a:avLst>
              <a:gd name="adj" fmla="val 2000"/>
            </a:avLst>
          </a:prstGeom>
          <a:solidFill>
            <a:srgbClr val="2B3A75"/>
          </a:solidFill>
          <a:ln/>
        </p:spPr>
      </p:sp>
      <p:sp>
        <p:nvSpPr>
          <p:cNvPr id="15" name="Shape 11"/>
          <p:cNvSpPr/>
          <p:nvPr/>
        </p:nvSpPr>
        <p:spPr>
          <a:xfrm>
            <a:off x="8595360" y="1965960"/>
            <a:ext cx="640080" cy="640080"/>
          </a:xfrm>
          <a:prstGeom prst="ellipse">
            <a:avLst/>
          </a:prstGeom>
          <a:solidFill>
            <a:srgbClr val="CADCFC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39378" y="2109978"/>
            <a:ext cx="352044" cy="352044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8595360" y="2788920"/>
            <a:ext cx="3108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Reported runtime measures ML computation only</a:t>
            </a:r>
            <a:endParaRPr lang="en-US" sz="1500" dirty="0"/>
          </a:p>
        </p:txBody>
      </p:sp>
      <p:sp>
        <p:nvSpPr>
          <p:cNvPr id="18" name="Text 13"/>
          <p:cNvSpPr/>
          <p:nvPr/>
        </p:nvSpPr>
        <p:spPr>
          <a:xfrm>
            <a:off x="8595360" y="3566160"/>
            <a:ext cx="310896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~2s figure excludes Python and scikit-learn DLL loading (~9s on Windows cold start). On Linux/Mac, total wall time is approximately 3 seconds.</a:t>
            </a:r>
            <a:endParaRPr lang="en-US" sz="1250" dirty="0"/>
          </a:p>
        </p:txBody>
      </p:sp>
      <p:sp>
        <p:nvSpPr>
          <p:cNvPr id="19" name="Text 14"/>
          <p:cNvSpPr/>
          <p:nvPr/>
        </p:nvSpPr>
        <p:spPr>
          <a:xfrm>
            <a:off x="11521440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B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Identity Sprawl &amp; Privilege Abuse Detection</dc:title>
  <dc:subject>PptxGenJS Presentation</dc:subject>
  <dc:creator>Team Submission</dc:creator>
  <cp:lastModifiedBy>Team Submission</cp:lastModifiedBy>
  <cp:revision>1</cp:revision>
  <dcterms:created xsi:type="dcterms:W3CDTF">2026-06-14T18:19:18Z</dcterms:created>
  <dcterms:modified xsi:type="dcterms:W3CDTF">2026-06-14T18:19:18Z</dcterms:modified>
</cp:coreProperties>
</file>